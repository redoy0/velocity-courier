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22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Avg. Response Time (ms) — estimated</c:v>
                </c:pt>
              </c:strCache>
            </c:strRef>
          </c:tx>
          <c:spPr>
            <a:solidFill>
              <a:srgbClr val="1200FF"/>
            </a:solidFill>
          </c:spPr>
          <c:cat>
            <c:strRef>
              <c:f>Sheet1!$A$2:$A$6</c:f>
              <c:strCache>
                <c:ptCount val="5"/>
                <c:pt idx="0">
                  <c:v>Auth</c:v>
                </c:pt>
                <c:pt idx="1">
                  <c:v>Booking</c:v>
                </c:pt>
                <c:pt idx="2">
                  <c:v>Assign</c:v>
                </c:pt>
                <c:pt idx="3">
                  <c:v>Location</c:v>
                </c:pt>
                <c:pt idx="4">
                  <c:v>Reports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180</c:v>
                </c:pt>
                <c:pt idx="2">
                  <c:v>170</c:v>
                </c:pt>
                <c:pt idx="3">
                  <c:v>190</c:v>
                </c:pt>
                <c:pt idx="4">
                  <c:v>160</c:v>
                </c:pt>
              </c:numCache>
            </c:numRef>
          </c:val>
        </c:ser>
        <c:dLbls>
          <c:numFmt formatCode="0&quot;ms&quot;" sourceLinked="0"/>
          <c:txPr>
            <a:bodyPr/>
            <a:lstStyle/>
            <a:p>
              <a:pPr>
                <a:defRPr sz="1300" b="1">
                  <a:solidFill>
                    <a:srgbClr val="10101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0D8"/>
            </a:solidFill>
          </a:ln>
        </c:spPr>
        <c:txPr>
          <a:bodyPr/>
          <a:lstStyle/>
          <a:p>
            <a:pPr>
              <a:defRPr sz="1400">
                <a:solidFill>
                  <a:srgbClr val="4A4A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5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outline in one breath,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 — why this domain matters before narrowing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in one sentence, then the supporting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should map to a result you'll show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the 4-5 most relevant works; group by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layer/module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only tools/decisions the committee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number, then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row/column where your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the objectives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read these aloud — keep for committee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sincere.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7145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33500" y="78105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00100"/>
            <a:ext cx="1279446" cy="704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3308271"/>
            <a:ext cx="163449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· UTTARA UNIVERSITY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7750" y="3868341"/>
            <a:ext cx="15304770" cy="1807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887"/>
              </a:lnSpc>
              <a:buNone/>
            </a:pPr>
            <a:r>
              <a:rPr lang="en-US" sz="6450" b="1" kern="0" spc="-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Courier and Parcel Management System</a:t>
            </a: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1047750" y="5923359"/>
            <a:ext cx="125730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09"/>
              </a:lnSpc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Implementation — Real-Time Parcel Tracking Platform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1047750" y="8233410"/>
            <a:ext cx="16192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8622030"/>
            <a:ext cx="548824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47750" y="8942070"/>
            <a:ext cx="548824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Sharmin Khatun &amp; Tasnim Jahan Mim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9345930"/>
            <a:ext cx="54882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2223081010, 2221081138 · B.Sc. in CSE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799064" y="8622030"/>
            <a:ext cx="3203234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799064" y="8942070"/>
            <a:ext cx="32032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Pranta Banik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799064" y="9345930"/>
            <a:ext cx="320323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5509558" y="9071610"/>
            <a:ext cx="173069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[Month Year]</a:t>
            </a:r>
            <a:endParaRPr lang="en-US" sz="187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B0C69C-DC03-BF59-5C9F-44FCDBB7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9" y="868680"/>
            <a:ext cx="249103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09750" y="3853815"/>
            <a:ext cx="40686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0" y="437959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382333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3853815"/>
            <a:ext cx="28645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809750" y="4646295"/>
            <a:ext cx="30926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0" y="517207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461581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87000" y="4646295"/>
            <a:ext cx="26204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809750" y="5438775"/>
            <a:ext cx="195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96455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540829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87000" y="5438775"/>
            <a:ext cx="225357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809750" y="6231255"/>
            <a:ext cx="23228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0" y="675703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620077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87000" y="6231255"/>
            <a:ext cx="2818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29" name="Text 27"/>
          <p:cNvSpPr/>
          <p:nvPr/>
        </p:nvSpPr>
        <p:spPr>
          <a:xfrm>
            <a:off x="104775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023735"/>
            <a:ext cx="391243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Discussion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525000" y="7549515"/>
            <a:ext cx="771525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6993255"/>
            <a:ext cx="609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287000" y="7023735"/>
            <a:ext cx="395826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INTRODUCTION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623435"/>
            <a:ext cx="95250" cy="857250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4623435"/>
            <a:ext cx="85206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coordination lacks real-time visibility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690235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5690235"/>
            <a:ext cx="6114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systems can't track dynamic deliveries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328410"/>
            <a:ext cx="9525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9" name="Text 7"/>
          <p:cNvSpPr/>
          <p:nvPr/>
        </p:nvSpPr>
        <p:spPr>
          <a:xfrm>
            <a:off x="1314450" y="6328410"/>
            <a:ext cx="78273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platform: booking, tracking, QR, analytics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253663" y="3491865"/>
            <a:ext cx="6986588" cy="4396740"/>
          </a:xfrm>
          <a:prstGeom prst="roundRect">
            <a:avLst>
              <a:gd name="adj" fmla="val 4333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54296" y="5568315"/>
            <a:ext cx="4385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Screenshot: Public Tracking Portal (map view)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 STATEMENT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Address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432459"/>
            <a:ext cx="16192500" cy="1378267"/>
          </a:xfrm>
          <a:prstGeom prst="rect">
            <a:avLst/>
          </a:prstGeom>
          <a:solidFill>
            <a:srgbClr val="F4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4432459"/>
            <a:ext cx="76200" cy="1378267"/>
          </a:xfrm>
          <a:prstGeom prst="rect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4851559"/>
            <a:ext cx="1663827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1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 into parcel status or location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agents, and administrators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655951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5951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tools, no live updates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071271" y="6248876"/>
            <a:ext cx="56857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071271" y="6587966"/>
            <a:ext cx="568574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growth outpaces manual coordination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OBJECTIVES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role-based access control (JWT)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96400" y="383857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85020" y="422719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0" y="482155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six-state parcel lifecycle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637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with QR verification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5842635"/>
            <a:ext cx="7943850" cy="1699260"/>
          </a:xfrm>
          <a:prstGeom prst="roundRect">
            <a:avLst>
              <a:gd name="adj" fmla="val 10090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5020" y="6231255"/>
            <a:ext cx="788327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0" y="6825615"/>
            <a:ext cx="78832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analytics &amp; report export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LITERATURE REVIEW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4815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02380"/>
            <a:ext cx="48982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/ YEAR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500688" y="3802380"/>
            <a:ext cx="7124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77688" y="3802380"/>
            <a:ext cx="57888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508635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51104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et al. (2019)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500688" y="451104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courier management system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977688" y="451104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not automated, delayed updates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59169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534162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Rahman et al. (2020)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00688" y="534162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parcel delivery &amp; tracking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977688" y="534162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status monitoring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47750" y="674751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617220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et al. (2021)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500688" y="617220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logistics management system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977688" y="617220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route optimization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047750" y="7002780"/>
            <a:ext cx="48982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Sundarban / Steadfast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500688" y="7002780"/>
            <a:ext cx="71247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Status-based consignment tracking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1977688" y="7002780"/>
            <a:ext cx="5788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map or dashboard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03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03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workflow study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29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5238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4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55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94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Modeling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94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ER, use case, sequence diagrams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20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429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5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Implementation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85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+ Socket.IO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011150" y="5507355"/>
            <a:ext cx="647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620750" y="4547235"/>
            <a:ext cx="3619500" cy="2286000"/>
          </a:xfrm>
          <a:prstGeom prst="roundRect">
            <a:avLst>
              <a:gd name="adj" fmla="val 75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76020" y="4897755"/>
            <a:ext cx="495300" cy="495300"/>
          </a:xfrm>
          <a:prstGeom prst="ellipse">
            <a:avLst/>
          </a:prstGeom>
          <a:solidFill>
            <a:srgbClr val="1200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837920" y="489775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876020" y="5526405"/>
            <a:ext cx="34198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Metrics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3876020" y="5934075"/>
            <a:ext cx="341985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+ performance tests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SYSTEM DESIGN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735705"/>
            <a:ext cx="16192500" cy="853440"/>
          </a:xfrm>
          <a:prstGeom prst="roundRect">
            <a:avLst>
              <a:gd name="adj" fmla="val 17857"/>
            </a:avLst>
          </a:prstGeom>
          <a:solidFill>
            <a:srgbClr val="F4F5FC"/>
          </a:solidFill>
          <a:ln w="15240">
            <a:solidFill>
              <a:srgbClr val="12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903" y="399859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— Role-Based Dashboards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" y="477964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4344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Dispatch Engine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2141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800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Engine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995071" y="5297805"/>
            <a:ext cx="5245061" cy="784860"/>
          </a:xfrm>
          <a:prstGeom prst="roundRect">
            <a:avLst>
              <a:gd name="adj" fmla="val 19417"/>
            </a:avLst>
          </a:prstGeom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71665" y="5553075"/>
            <a:ext cx="4891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 Engine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38125" y="6273165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791325"/>
            <a:ext cx="16192500" cy="853440"/>
          </a:xfrm>
          <a:prstGeom prst="roundRect">
            <a:avLst>
              <a:gd name="adj" fmla="val 17857"/>
            </a:avLst>
          </a:prstGeom>
          <a:ln w="15240">
            <a:solidFill>
              <a:srgbClr val="101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903" y="7054215"/>
            <a:ext cx="160381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Data &amp; Storage Layer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IMPLEMENTATION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334828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818697"/>
            <a:ext cx="1755696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3970" y="4940617"/>
            <a:ext cx="13594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936796" y="4818697"/>
            <a:ext cx="1901547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3016" y="4940617"/>
            <a:ext cx="15053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971693" y="4818697"/>
            <a:ext cx="1438394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7913" y="4940617"/>
            <a:ext cx="10421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43437" y="4818697"/>
            <a:ext cx="1689973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9657" y="4940617"/>
            <a:ext cx="12937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70207"/>
            <a:ext cx="1596985" cy="518160"/>
          </a:xfrm>
          <a:prstGeom prst="roundRect">
            <a:avLst>
              <a:gd name="adj" fmla="val 50000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3970" y="5592127"/>
            <a:ext cx="12007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47750" y="6274118"/>
            <a:ext cx="79957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02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8-char UUID-based codes — unique, unguessable, human-readable tracking IDs.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477375" y="3880485"/>
            <a:ext cx="7762875" cy="3619500"/>
          </a:xfrm>
          <a:prstGeom prst="roundRect">
            <a:avLst>
              <a:gd name="adj" fmla="val 4737"/>
            </a:avLst>
          </a:prstGeom>
          <a:solidFill>
            <a:srgbClr val="10101B"/>
          </a:solidFill>
          <a:ln/>
        </p:spPr>
      </p:sp>
      <p:sp>
        <p:nvSpPr>
          <p:cNvPr id="17" name="Text 15"/>
          <p:cNvSpPr/>
          <p:nvPr/>
        </p:nvSpPr>
        <p:spPr>
          <a:xfrm>
            <a:off x="9858375" y="426148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7D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Generate parcel tracking code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58375" y="461772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createParcel(data) {</a:t>
            </a:r>
            <a:r>
              <a:rPr lang="en-US" sz="1650" dirty="0">
                <a:solidFill>
                  <a:srgbClr val="FF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58375" y="497395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code = uuid().slice(0,8);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58375" y="5330190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Parcel.create({ ...data, code });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58375" y="5686425"/>
            <a:ext cx="7210901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806"/>
              </a:lnSpc>
              <a:buNone/>
            </a:pPr>
            <a:r>
              <a:rPr lang="en-US" sz="1650" dirty="0">
                <a:solidFill>
                  <a:srgbClr val="B9E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RESULTS &amp; ANALYSIS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Analysis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23435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339340"/>
            <a:ext cx="5705261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211830"/>
            <a:ext cx="57052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Success Rate*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733491" y="2339340"/>
            <a:ext cx="9525" cy="114681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8" name="Text 6"/>
          <p:cNvSpPr/>
          <p:nvPr/>
        </p:nvSpPr>
        <p:spPr>
          <a:xfrm>
            <a:off x="6546771" y="2339340"/>
            <a:ext cx="570539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5550" dirty="0"/>
          </a:p>
        </p:txBody>
      </p:sp>
      <p:sp>
        <p:nvSpPr>
          <p:cNvPr id="9" name="Text 7"/>
          <p:cNvSpPr/>
          <p:nvPr/>
        </p:nvSpPr>
        <p:spPr>
          <a:xfrm>
            <a:off x="6546771" y="3211830"/>
            <a:ext cx="5705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Test Pass Ratio*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045910" y="2339340"/>
            <a:ext cx="5713774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180ms</a:t>
            </a:r>
            <a:endParaRPr lang="en-US" sz="5550" dirty="0"/>
          </a:p>
        </p:txBody>
      </p:sp>
      <p:sp>
        <p:nvSpPr>
          <p:cNvPr id="11" name="Text 9"/>
          <p:cNvSpPr/>
          <p:nvPr/>
        </p:nvSpPr>
        <p:spPr>
          <a:xfrm>
            <a:off x="12045910" y="3211830"/>
            <a:ext cx="57137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API Response Time*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3867150"/>
            <a:ext cx="16192500" cy="5173980"/>
          </a:xfrm>
          <a:prstGeom prst="roundRect">
            <a:avLst>
              <a:gd name="adj" fmla="val 3314"/>
            </a:avLst>
          </a:prstGeom>
          <a:solidFill>
            <a:srgbClr val="F4F5FC"/>
          </a:solidFill>
          <a:ln w="7620">
            <a:solidFill>
              <a:srgbClr val="E1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8182" y="6332220"/>
            <a:ext cx="39288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*Estimated for demonstration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650" dirty="0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108960" y="4023360"/>
          <a:ext cx="12984480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COMPARISON &amp; DISCUSSION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720590"/>
            <a:ext cx="16192500" cy="15240"/>
          </a:xfrm>
          <a:prstGeom prst="rect">
            <a:avLst/>
          </a:prstGeom>
          <a:solidFill>
            <a:srgbClr val="10101B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274820"/>
            <a:ext cx="56672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015818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695921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76023" y="4274820"/>
            <a:ext cx="404811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VERIFICATION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047750" y="552069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496443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Sundarban Courier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015818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95921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dashboard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6023" y="496443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only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631317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756910"/>
            <a:ext cx="56672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/ Steadfast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15818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Status-timeline only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95921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API only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376023" y="575691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OTP only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320790"/>
            <a:ext cx="16192500" cy="784860"/>
          </a:xfrm>
          <a:prstGeom prst="roundRect">
            <a:avLst>
              <a:gd name="adj" fmla="val 14563"/>
            </a:avLst>
          </a:prstGeom>
          <a:solidFill>
            <a:srgbClr val="F4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1238250" y="6549390"/>
            <a:ext cx="54767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SCPMS (Proposed)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015818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tracking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95921" y="6549390"/>
            <a:ext cx="40481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Agent / Customer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376023" y="6549390"/>
            <a:ext cx="38576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scan-verified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14934" y="9345930"/>
            <a:ext cx="70151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CONCLUSION &amp; FUTURE WORK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9340"/>
            <a:ext cx="8539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2842260"/>
            <a:ext cx="47867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working MERN courier platform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3499485"/>
            <a:ext cx="56951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real-time visibility gap directly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47750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1200FF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4156710"/>
            <a:ext cx="414110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+ QR + analytics combined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477375" y="2339340"/>
            <a:ext cx="9525" cy="6701790"/>
          </a:xfrm>
          <a:prstGeom prst="rect">
            <a:avLst/>
          </a:prstGeom>
          <a:solidFill>
            <a:srgbClr val="E1E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151745" y="2339340"/>
            <a:ext cx="77973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151745" y="284226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0345" y="2842260"/>
            <a:ext cx="48745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Redis-backed scaling for real-time layer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151745" y="3499485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0345" y="3499485"/>
            <a:ext cx="4647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prediction &amp; traffic-aware routing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151745" y="4156710"/>
            <a:ext cx="76200" cy="428625"/>
          </a:xfrm>
          <a:prstGeom prst="roundRect">
            <a:avLst>
              <a:gd name="adj" fmla="val 50000"/>
            </a:avLst>
          </a:prstGeom>
          <a:solidFill>
            <a:srgbClr val="4A4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0345" y="4156710"/>
            <a:ext cx="504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225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 &amp; mobile agent app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REFERENCES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094797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A. Ahmed, M. Rahman, S. Hossain, "Web-Based Courier Management System," IJCA, vol. 178, no. 7, pp. 25–30, 2019.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466153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M. Rahman, T. Islam, F. Ahmed, "Online Parcel Delivery and Tracking System," IJACSA, vol. 11, no. 5, pp. 412–418, 2020.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47750" y="5228273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S. Khan, A. Hasan, R. Uddin, "Smart Logistics Management System Using Web Technologies," JCSIT, vol. 9, no. 2, pp. 55–62, 2021.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5795010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D. Jones, M. Bradley, N. Sakimura, "JSON Web Token (JWT)," RFC 7519, IETF, 2015.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047750" y="6361748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Socket.IO, "Socket.IO Documentation (v4)." [Online]. socket.io/docs/v4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047750" y="6928485"/>
            <a:ext cx="178117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208"/>
              </a:lnSpc>
              <a:buNone/>
            </a:pP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V. Agafonkin, "Leaflet: Open-Source JS Library for Maps"; OpenStreetMap Contributors. [Online]. leafletjs.com</a:t>
            </a:r>
            <a:r>
              <a:rPr lang="en-US" sz="1875" i="1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7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ACKNOWLEDGEMENT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566285"/>
            <a:ext cx="1334262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931"/>
              </a:lnSpc>
              <a:buNone/>
            </a:pPr>
            <a:r>
              <a:rPr lang="en-US" sz="3000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Pranta Banik for guidance, the Department of CSE, Uttara University, for its support, and family and peers for their encouragement.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477000"/>
            <a:ext cx="5905500" cy="59055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-19050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070" y="3394710"/>
            <a:ext cx="1175742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14929" y="4480560"/>
            <a:ext cx="4858024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7041696" y="5760720"/>
            <a:ext cx="42044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44712" y="6751320"/>
            <a:ext cx="679845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Sharmin Khatun &amp; Tasnim Jahan Mim · [student.email@uttarauniversity.edu.bd]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47750" y="85725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63" dirty="0">
                <a:solidFill>
                  <a:srgbClr val="12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PROJECT TIMELINE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64920"/>
            <a:ext cx="17811750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101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1047750" y="9041130"/>
            <a:ext cx="16192500" cy="9525"/>
          </a:xfrm>
          <a:prstGeom prst="rect">
            <a:avLst/>
          </a:prstGeom>
          <a:solidFill>
            <a:srgbClr val="E1E3F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5450"/>
            <a:ext cx="553283" cy="30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4384" y="9345930"/>
            <a:ext cx="3907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· Uttara University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599337" y="9345930"/>
            <a:ext cx="71711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165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45920" y="2468880"/>
          <a:ext cx="14996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595360"/>
                <a:gridCol w="3108960"/>
              </a:tblGrid>
              <a:tr h="54864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Tasks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1200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Literature Review &amp; Gap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1–2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Design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Database Schema &amp; UI Wireframing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3–4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Backend API &amp; Frontend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5–7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Bug Fixing &amp; User Acceptance Testing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7–9</a:t>
                      </a:r>
                    </a:p>
                  </a:txBody>
                  <a:tcPr anchor="ctr">
                    <a:solidFill>
                      <a:srgbClr val="F1F1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Final Hosting &amp;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0101B"/>
                          </a:solidFill>
                          <a:latin typeface="Arial"/>
                        </a:defRPr>
                      </a:pPr>
                      <a:r>
                        <a:t>Weeks 9–12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1207</Words>
  <Application>Microsoft Office PowerPoint</Application>
  <PresentationFormat>Custom</PresentationFormat>
  <Paragraphs>221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S M Nazmus Sadat</cp:lastModifiedBy>
  <cp:revision>2</cp:revision>
  <dcterms:created xsi:type="dcterms:W3CDTF">2026-07-14T10:42:10Z</dcterms:created>
  <dcterms:modified xsi:type="dcterms:W3CDTF">2026-07-14T10:48:48Z</dcterms:modified>
</cp:coreProperties>
</file>