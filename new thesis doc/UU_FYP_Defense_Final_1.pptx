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Avg. Response Time (ms) — estimated</c:v>
                </c:pt>
              </c:strCache>
            </c:strRef>
          </c:tx>
          <c:spPr>
            <a:solidFill>
              <a:srgbClr val="1200FF"/>
            </a:solidFill>
          </c:spPr>
          <c:invertIfNegative val="1"/>
          <c:dLbls>
            <c:numFmt formatCode="0&quot;m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10101B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Auth</c:v>
                </c:pt>
                <c:pt idx="1">
                  <c:v>Booking</c:v>
                </c:pt>
                <c:pt idx="2">
                  <c:v>Assign</c:v>
                </c:pt>
                <c:pt idx="3">
                  <c:v>Location</c:v>
                </c:pt>
                <c:pt idx="4">
                  <c:v>Reports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</c:v>
                </c:pt>
                <c:pt idx="1">
                  <c:v>180</c:v>
                </c:pt>
                <c:pt idx="2">
                  <c:v>170</c:v>
                </c:pt>
                <c:pt idx="3">
                  <c:v>190</c:v>
                </c:pt>
                <c:pt idx="4">
                  <c:v>160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FD1-4D01-B7A2-FEE9556940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0D0D8"/>
            </a:solidFill>
          </a:ln>
        </c:spPr>
        <c:txPr>
          <a:bodyPr/>
          <a:lstStyle/>
          <a:p>
            <a:pPr>
              <a:defRPr sz="1400">
                <a:solidFill>
                  <a:srgbClr val="4A4A5C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454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committee, introduce yourself and the thesis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outline in one breath, don't linger.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context — why this domain matters before narrowing to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gap in one sentence, then the supporting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objective should map to a result you'll show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show the 4-5 most relevant works; group by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through the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each layer/module as you name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only tools/decisions the committee will ask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headline number, then the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row/column where your approach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 back to the objectives on slide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read these aloud — keep for committee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and sincere.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 from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097000" y="-1714500"/>
            <a:ext cx="5905500" cy="59055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33500" y="78105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800100"/>
            <a:ext cx="1279446" cy="704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3308271"/>
            <a:ext cx="163449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 · UTTARA UNIVERSITY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1047750" y="3868341"/>
            <a:ext cx="15304770" cy="1807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887"/>
              </a:lnSpc>
              <a:buNone/>
            </a:pPr>
            <a:r>
              <a:rPr lang="en-US" sz="6450" b="1" kern="0" spc="-6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Courier and Parcel Management System</a:t>
            </a:r>
            <a:endParaRPr lang="en-US" sz="6450" dirty="0"/>
          </a:p>
        </p:txBody>
      </p:sp>
      <p:sp>
        <p:nvSpPr>
          <p:cNvPr id="7" name="Text 4"/>
          <p:cNvSpPr/>
          <p:nvPr/>
        </p:nvSpPr>
        <p:spPr>
          <a:xfrm>
            <a:off x="1047750" y="5923359"/>
            <a:ext cx="12573000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909"/>
              </a:lnSpc>
              <a:buNone/>
            </a:pPr>
            <a:r>
              <a:rPr lang="en-US" sz="285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Implementation — Real-Time Parcel Tracking Platform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1047750" y="8233410"/>
            <a:ext cx="16192500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8622030"/>
            <a:ext cx="548824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47750" y="8942070"/>
            <a:ext cx="548824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[Student Name]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047750" y="9345930"/>
            <a:ext cx="548824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ID: [Student ID] · B.Sc. in CSE</a:t>
            </a:r>
            <a:endParaRPr lang="en-US" sz="1875" dirty="0"/>
          </a:p>
        </p:txBody>
      </p:sp>
      <p:sp>
        <p:nvSpPr>
          <p:cNvPr id="12" name="Text 9"/>
          <p:cNvSpPr/>
          <p:nvPr/>
        </p:nvSpPr>
        <p:spPr>
          <a:xfrm>
            <a:off x="6799064" y="8622030"/>
            <a:ext cx="3203234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BY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799064" y="8942070"/>
            <a:ext cx="320323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[Supervisor Name]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6799064" y="9345930"/>
            <a:ext cx="320323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[Designation], Dept. of CSE</a:t>
            </a:r>
            <a:endParaRPr lang="en-US" sz="1875" dirty="0"/>
          </a:p>
        </p:txBody>
      </p:sp>
      <p:sp>
        <p:nvSpPr>
          <p:cNvPr id="15" name="Text 12"/>
          <p:cNvSpPr/>
          <p:nvPr/>
        </p:nvSpPr>
        <p:spPr>
          <a:xfrm>
            <a:off x="15509558" y="9071610"/>
            <a:ext cx="1730692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 Defense [Month Year]</a:t>
            </a:r>
            <a:endParaRPr lang="en-US" sz="1875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7B0C69C-DC03-BF59-5C9F-44FCDBB71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99" y="868680"/>
            <a:ext cx="2491031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OUTLINE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37959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82333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809750" y="3853815"/>
            <a:ext cx="406867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Background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525000" y="437959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0" y="382333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287000" y="3853815"/>
            <a:ext cx="286454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47750" y="517207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461581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809750" y="4646295"/>
            <a:ext cx="309269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525000" y="517207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0" y="461581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0287000" y="4646295"/>
            <a:ext cx="262042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596455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540829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809750" y="5438775"/>
            <a:ext cx="195549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525000" y="596455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0" y="540829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0287000" y="5438775"/>
            <a:ext cx="225357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047750" y="675703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620077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809750" y="6231255"/>
            <a:ext cx="232286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525000" y="675703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26" name="Text 24"/>
          <p:cNvSpPr/>
          <p:nvPr/>
        </p:nvSpPr>
        <p:spPr>
          <a:xfrm>
            <a:off x="9525000" y="620077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0287000" y="6231255"/>
            <a:ext cx="281844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Analysis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047750" y="754951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29" name="Text 27"/>
          <p:cNvSpPr/>
          <p:nvPr/>
        </p:nvSpPr>
        <p:spPr>
          <a:xfrm>
            <a:off x="1047750" y="699325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1809750" y="7023735"/>
            <a:ext cx="391243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Discussion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9525000" y="754951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32" name="Text 30"/>
          <p:cNvSpPr/>
          <p:nvPr/>
        </p:nvSpPr>
        <p:spPr>
          <a:xfrm>
            <a:off x="9525000" y="699325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550" dirty="0"/>
          </a:p>
        </p:txBody>
      </p:sp>
      <p:sp>
        <p:nvSpPr>
          <p:cNvPr id="33" name="Text 31"/>
          <p:cNvSpPr/>
          <p:nvPr/>
        </p:nvSpPr>
        <p:spPr>
          <a:xfrm>
            <a:off x="10287000" y="7023735"/>
            <a:ext cx="395826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37" name="Text 34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15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INTRODUCTION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Background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623435"/>
            <a:ext cx="95250" cy="857250"/>
          </a:xfrm>
          <a:prstGeom prst="roundRect">
            <a:avLst>
              <a:gd name="adj" fmla="val 50000"/>
            </a:avLst>
          </a:prstGeom>
          <a:solidFill>
            <a:srgbClr val="1200F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4623435"/>
            <a:ext cx="852063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coordination lacks real-time visibility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5690235"/>
            <a:ext cx="95250" cy="428625"/>
          </a:xfrm>
          <a:prstGeom prst="roundRect">
            <a:avLst>
              <a:gd name="adj" fmla="val 50000"/>
            </a:avLst>
          </a:prstGeom>
          <a:solidFill>
            <a:srgbClr val="1200FF"/>
          </a:solidFill>
          <a:ln/>
        </p:spPr>
      </p:sp>
      <p:sp>
        <p:nvSpPr>
          <p:cNvPr id="7" name="Text 5"/>
          <p:cNvSpPr/>
          <p:nvPr/>
        </p:nvSpPr>
        <p:spPr>
          <a:xfrm>
            <a:off x="1314450" y="5690235"/>
            <a:ext cx="61141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systems can't track dynamic deliveries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47750" y="6328410"/>
            <a:ext cx="95250" cy="428625"/>
          </a:xfrm>
          <a:prstGeom prst="roundRect">
            <a:avLst>
              <a:gd name="adj" fmla="val 50000"/>
            </a:avLst>
          </a:prstGeom>
          <a:solidFill>
            <a:srgbClr val="1200FF"/>
          </a:solidFill>
          <a:ln/>
        </p:spPr>
      </p:sp>
      <p:sp>
        <p:nvSpPr>
          <p:cNvPr id="9" name="Text 7"/>
          <p:cNvSpPr/>
          <p:nvPr/>
        </p:nvSpPr>
        <p:spPr>
          <a:xfrm>
            <a:off x="1314450" y="6328410"/>
            <a:ext cx="782734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MERN platform: booking, tracking, QR, analytics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253663" y="3491865"/>
            <a:ext cx="6986588" cy="4396740"/>
          </a:xfrm>
          <a:prstGeom prst="roundRect">
            <a:avLst>
              <a:gd name="adj" fmla="val 4333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54296" y="5568315"/>
            <a:ext cx="438520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4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Screenshot: Public Tracking Portal (map view)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15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PROBLEM STATEMENT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We Address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432459"/>
            <a:ext cx="16192500" cy="1378267"/>
          </a:xfrm>
          <a:prstGeom prst="rect">
            <a:avLst/>
          </a:prstGeom>
          <a:solidFill>
            <a:srgbClr val="F4F5FC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4432459"/>
            <a:ext cx="76200" cy="1378267"/>
          </a:xfrm>
          <a:prstGeom prst="rect">
            <a:avLst/>
          </a:prstGeom>
          <a:solidFill>
            <a:srgbClr val="1200FF"/>
          </a:solidFill>
          <a:ln/>
        </p:spPr>
      </p:sp>
      <p:sp>
        <p:nvSpPr>
          <p:cNvPr id="6" name="Text 4"/>
          <p:cNvSpPr/>
          <p:nvPr/>
        </p:nvSpPr>
        <p:spPr>
          <a:xfrm>
            <a:off x="1619250" y="4851559"/>
            <a:ext cx="16638270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189"/>
              </a:lnSpc>
              <a:buNone/>
            </a:pPr>
            <a:r>
              <a:rPr lang="en-US" sz="31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visibility into parcel status or location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047750" y="6248876"/>
            <a:ext cx="568574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AFFECTED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6587966"/>
            <a:ext cx="5685747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Customers, agents, and administrators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6559511" y="6248876"/>
            <a:ext cx="568574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559511" y="6587966"/>
            <a:ext cx="5685747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tools, no live updates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2071271" y="6248876"/>
            <a:ext cx="568574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071271" y="6587966"/>
            <a:ext cx="5685747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growth outpaces manual coordination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15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OBJECTIVES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3838575"/>
            <a:ext cx="7943850" cy="1699260"/>
          </a:xfrm>
          <a:prstGeom prst="roundRect">
            <a:avLst>
              <a:gd name="adj" fmla="val 10090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36370" y="4227195"/>
            <a:ext cx="788327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36370" y="4821555"/>
            <a:ext cx="788327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role-based access control (JWT)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296400" y="3838575"/>
            <a:ext cx="7943850" cy="1699260"/>
          </a:xfrm>
          <a:prstGeom prst="roundRect">
            <a:avLst>
              <a:gd name="adj" fmla="val 10090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85020" y="4227195"/>
            <a:ext cx="788327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685020" y="4821555"/>
            <a:ext cx="788327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six-state parcel lifecycle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47750" y="5842635"/>
            <a:ext cx="7943850" cy="1699260"/>
          </a:xfrm>
          <a:prstGeom prst="roundRect">
            <a:avLst>
              <a:gd name="adj" fmla="val 10090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36370" y="6231255"/>
            <a:ext cx="788327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436370" y="6825615"/>
            <a:ext cx="788327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tracking with QR verification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296400" y="5842635"/>
            <a:ext cx="7943850" cy="1699260"/>
          </a:xfrm>
          <a:prstGeom prst="roundRect">
            <a:avLst>
              <a:gd name="adj" fmla="val 10090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85020" y="6231255"/>
            <a:ext cx="788327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685020" y="6825615"/>
            <a:ext cx="788327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analytics &amp; report export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15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LITERATURE REVIEW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248150"/>
            <a:ext cx="16192500" cy="15240"/>
          </a:xfrm>
          <a:prstGeom prst="rect">
            <a:avLst/>
          </a:prstGeom>
          <a:solidFill>
            <a:srgbClr val="10101B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802380"/>
            <a:ext cx="489823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/ YEAR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5500688" y="3802380"/>
            <a:ext cx="7124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1977688" y="3802380"/>
            <a:ext cx="578881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1047750" y="508635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4511040"/>
            <a:ext cx="48982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Pathao / Sundarban / Steadfast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500688" y="4511040"/>
            <a:ext cx="71247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Status-based consignment tracking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1977688" y="4511040"/>
            <a:ext cx="578881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 map or dashboard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047750" y="59169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5341620"/>
            <a:ext cx="48982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GPS / IoT Tracking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5500688" y="5341620"/>
            <a:ext cx="71247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Hardware-based location reporting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1977688" y="5341620"/>
            <a:ext cx="578881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cost, no full workflow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047750" y="674751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6172200"/>
            <a:ext cx="48982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Logistics Systems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5500688" y="6172200"/>
            <a:ext cx="71247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CRUD dashboards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1977688" y="6172200"/>
            <a:ext cx="578881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 updates or QR check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047750" y="7002780"/>
            <a:ext cx="48982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University FYPs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5500688" y="7002780"/>
            <a:ext cx="71247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+ manual status update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11977688" y="7002780"/>
            <a:ext cx="578881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tracking, analytics, or QR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15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METHODOLOGY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Methodology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547235"/>
            <a:ext cx="3619500" cy="2286000"/>
          </a:xfrm>
          <a:prstGeom prst="roundRect">
            <a:avLst>
              <a:gd name="adj" fmla="val 75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3020" y="4897755"/>
            <a:ext cx="495300" cy="495300"/>
          </a:xfrm>
          <a:prstGeom prst="ellipse">
            <a:avLst/>
          </a:prstGeom>
          <a:solidFill>
            <a:srgbClr val="1200FF"/>
          </a:solidFill>
          <a:ln/>
        </p:spPr>
      </p:sp>
      <p:sp>
        <p:nvSpPr>
          <p:cNvPr id="6" name="Text 4"/>
          <p:cNvSpPr/>
          <p:nvPr/>
        </p:nvSpPr>
        <p:spPr>
          <a:xfrm>
            <a:off x="1264920" y="489775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03020" y="5526405"/>
            <a:ext cx="34198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Analysis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303020" y="5934075"/>
            <a:ext cx="341985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312"/>
              </a:lnSpc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Courier workflow study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629150" y="5507355"/>
            <a:ext cx="6477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5238750" y="4547235"/>
            <a:ext cx="3619500" cy="2286000"/>
          </a:xfrm>
          <a:prstGeom prst="roundRect">
            <a:avLst>
              <a:gd name="adj" fmla="val 75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94020" y="4897755"/>
            <a:ext cx="495300" cy="495300"/>
          </a:xfrm>
          <a:prstGeom prst="ellipse">
            <a:avLst/>
          </a:prstGeom>
          <a:solidFill>
            <a:srgbClr val="1200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55920" y="489775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494020" y="5526405"/>
            <a:ext cx="34198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Modeling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5494020" y="5934075"/>
            <a:ext cx="341985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312"/>
              </a:lnSpc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ER, use case, sequence diagrams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820150" y="5507355"/>
            <a:ext cx="6477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429750" y="4547235"/>
            <a:ext cx="3619500" cy="2286000"/>
          </a:xfrm>
          <a:prstGeom prst="roundRect">
            <a:avLst>
              <a:gd name="adj" fmla="val 75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85020" y="4897755"/>
            <a:ext cx="495300" cy="495300"/>
          </a:xfrm>
          <a:prstGeom prst="ellipse">
            <a:avLst/>
          </a:prstGeom>
          <a:solidFill>
            <a:srgbClr val="1200FF"/>
          </a:solidFill>
          <a:ln/>
        </p:spPr>
      </p:sp>
      <p:sp>
        <p:nvSpPr>
          <p:cNvPr id="18" name="Text 16"/>
          <p:cNvSpPr/>
          <p:nvPr/>
        </p:nvSpPr>
        <p:spPr>
          <a:xfrm>
            <a:off x="9646920" y="489775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685020" y="5526405"/>
            <a:ext cx="34198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MERN Implementation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9685020" y="5934075"/>
            <a:ext cx="341985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312"/>
              </a:lnSpc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+ Socket.IO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3011150" y="5507355"/>
            <a:ext cx="6477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3620750" y="4547235"/>
            <a:ext cx="3619500" cy="2286000"/>
          </a:xfrm>
          <a:prstGeom prst="roundRect">
            <a:avLst>
              <a:gd name="adj" fmla="val 75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876020" y="4897755"/>
            <a:ext cx="495300" cy="495300"/>
          </a:xfrm>
          <a:prstGeom prst="ellipse">
            <a:avLst/>
          </a:prstGeom>
          <a:solidFill>
            <a:srgbClr val="1200FF"/>
          </a:solidFill>
          <a:ln/>
        </p:spPr>
      </p:sp>
      <p:sp>
        <p:nvSpPr>
          <p:cNvPr id="24" name="Text 22"/>
          <p:cNvSpPr/>
          <p:nvPr/>
        </p:nvSpPr>
        <p:spPr>
          <a:xfrm>
            <a:off x="13837920" y="489775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3876020" y="5526405"/>
            <a:ext cx="34198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Metrics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3876020" y="5934075"/>
            <a:ext cx="341985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312"/>
              </a:lnSpc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+ performance tests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15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SYSTEM DESIGN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3735705"/>
            <a:ext cx="16192500" cy="853440"/>
          </a:xfrm>
          <a:prstGeom prst="roundRect">
            <a:avLst>
              <a:gd name="adj" fmla="val 17857"/>
            </a:avLst>
          </a:prstGeom>
          <a:solidFill>
            <a:srgbClr val="F4F5FC"/>
          </a:solidFill>
          <a:ln w="15240">
            <a:solidFill>
              <a:srgbClr val="120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903" y="3998595"/>
            <a:ext cx="1603819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Frontend — Role-Based Dashboards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38125" y="4779645"/>
            <a:ext cx="178117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47750" y="5297805"/>
            <a:ext cx="5245061" cy="784860"/>
          </a:xfrm>
          <a:prstGeom prst="roundRect">
            <a:avLst>
              <a:gd name="adj" fmla="val 19417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4344" y="5553075"/>
            <a:ext cx="489187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&amp; Dispatch Engine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521411" y="5297805"/>
            <a:ext cx="5245061" cy="784860"/>
          </a:xfrm>
          <a:prstGeom prst="roundRect">
            <a:avLst>
              <a:gd name="adj" fmla="val 19417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8005" y="5553075"/>
            <a:ext cx="489187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Tracking Engine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1995071" y="5297805"/>
            <a:ext cx="5245061" cy="784860"/>
          </a:xfrm>
          <a:prstGeom prst="roundRect">
            <a:avLst>
              <a:gd name="adj" fmla="val 19417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71665" y="5553075"/>
            <a:ext cx="489187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Reporting Engine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238125" y="6273165"/>
            <a:ext cx="178117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47750" y="6791325"/>
            <a:ext cx="16192500" cy="853440"/>
          </a:xfrm>
          <a:prstGeom prst="roundRect">
            <a:avLst>
              <a:gd name="adj" fmla="val 17857"/>
            </a:avLst>
          </a:prstGeom>
          <a:ln w="15240">
            <a:solidFill>
              <a:srgbClr val="1010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903" y="7054215"/>
            <a:ext cx="1603819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— Data &amp; Storage Layer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15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IMPLEMENTATION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Details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4334828"/>
            <a:ext cx="853916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TECHNOLOGIES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1047750" y="4818697"/>
            <a:ext cx="1755696" cy="518160"/>
          </a:xfrm>
          <a:prstGeom prst="roundRect">
            <a:avLst>
              <a:gd name="adj" fmla="val 500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3970" y="4940617"/>
            <a:ext cx="13594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2936796" y="4818697"/>
            <a:ext cx="1901547" cy="518160"/>
          </a:xfrm>
          <a:prstGeom prst="roundRect">
            <a:avLst>
              <a:gd name="adj" fmla="val 500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73016" y="4940617"/>
            <a:ext cx="150530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Express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4971693" y="4818697"/>
            <a:ext cx="1438394" cy="518160"/>
          </a:xfrm>
          <a:prstGeom prst="roundRect">
            <a:avLst>
              <a:gd name="adj" fmla="val 500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07913" y="4940617"/>
            <a:ext cx="104215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6543437" y="4818697"/>
            <a:ext cx="1689973" cy="518160"/>
          </a:xfrm>
          <a:prstGeom prst="roundRect">
            <a:avLst>
              <a:gd name="adj" fmla="val 500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79657" y="4940617"/>
            <a:ext cx="129373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47750" y="5470207"/>
            <a:ext cx="1596985" cy="518160"/>
          </a:xfrm>
          <a:prstGeom prst="roundRect">
            <a:avLst>
              <a:gd name="adj" fmla="val 500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3970" y="5592127"/>
            <a:ext cx="120074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047750" y="6274118"/>
            <a:ext cx="799576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808"/>
              </a:lnSpc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8-char UUID-based codes — unique, unguessable, human-readable tracking IDs.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9477375" y="3880485"/>
            <a:ext cx="7762875" cy="3619500"/>
          </a:xfrm>
          <a:prstGeom prst="roundRect">
            <a:avLst>
              <a:gd name="adj" fmla="val 4737"/>
            </a:avLst>
          </a:prstGeom>
          <a:solidFill>
            <a:srgbClr val="10101B"/>
          </a:solidFill>
          <a:ln/>
        </p:spPr>
      </p:sp>
      <p:sp>
        <p:nvSpPr>
          <p:cNvPr id="17" name="Text 15"/>
          <p:cNvSpPr/>
          <p:nvPr/>
        </p:nvSpPr>
        <p:spPr>
          <a:xfrm>
            <a:off x="9858375" y="4261485"/>
            <a:ext cx="721090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806"/>
              </a:lnSpc>
              <a:buNone/>
            </a:pPr>
            <a:r>
              <a:rPr lang="en-US" sz="1650" dirty="0">
                <a:solidFill>
                  <a:srgbClr val="7D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Generate parcel tracking code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58375" y="4617720"/>
            <a:ext cx="721090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806"/>
              </a:lnSpc>
              <a:buNone/>
            </a:pPr>
            <a:r>
              <a:rPr lang="en-US" sz="1650" dirty="0">
                <a:solidFill>
                  <a:srgbClr val="B9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createParcel(data) {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858375" y="4973955"/>
            <a:ext cx="721090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806"/>
              </a:lnSpc>
              <a:buNone/>
            </a:pPr>
            <a:r>
              <a:rPr lang="en-US" sz="1650" dirty="0">
                <a:solidFill>
                  <a:srgbClr val="B9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code = uuid().slice(0,8);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858375" y="5330190"/>
            <a:ext cx="721090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806"/>
              </a:lnSpc>
              <a:buNone/>
            </a:pPr>
            <a:r>
              <a:rPr lang="en-US" sz="1650" dirty="0">
                <a:solidFill>
                  <a:srgbClr val="B9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Parcel.create({ ...data, code });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858375" y="5686425"/>
            <a:ext cx="721090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806"/>
              </a:lnSpc>
              <a:buNone/>
            </a:pPr>
            <a:r>
              <a:rPr lang="en-US" sz="1650" dirty="0">
                <a:solidFill>
                  <a:srgbClr val="B9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15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RESULTS &amp; ANALYSIS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Analysis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6234351" y="2339340"/>
            <a:ext cx="9525" cy="1146810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339340"/>
            <a:ext cx="5705261" cy="85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98.6%</a:t>
            </a:r>
            <a:endParaRPr lang="en-US" sz="5550" dirty="0"/>
          </a:p>
        </p:txBody>
      </p:sp>
      <p:sp>
        <p:nvSpPr>
          <p:cNvPr id="6" name="Text 4"/>
          <p:cNvSpPr/>
          <p:nvPr/>
        </p:nvSpPr>
        <p:spPr>
          <a:xfrm>
            <a:off x="1047750" y="3211830"/>
            <a:ext cx="57052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Success Rate*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1733491" y="2339340"/>
            <a:ext cx="9525" cy="1146810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8" name="Text 6"/>
          <p:cNvSpPr/>
          <p:nvPr/>
        </p:nvSpPr>
        <p:spPr>
          <a:xfrm>
            <a:off x="6546771" y="2339340"/>
            <a:ext cx="5705392" cy="85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</a:t>
            </a:r>
            <a:endParaRPr lang="en-US" sz="5550" dirty="0"/>
          </a:p>
        </p:txBody>
      </p:sp>
      <p:sp>
        <p:nvSpPr>
          <p:cNvPr id="9" name="Text 7"/>
          <p:cNvSpPr/>
          <p:nvPr/>
        </p:nvSpPr>
        <p:spPr>
          <a:xfrm>
            <a:off x="6546771" y="3211830"/>
            <a:ext cx="570539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Test Pass Ratio*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2045910" y="2339340"/>
            <a:ext cx="5713774" cy="85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180ms</a:t>
            </a:r>
            <a:endParaRPr lang="en-US" sz="5550" dirty="0"/>
          </a:p>
        </p:txBody>
      </p:sp>
      <p:sp>
        <p:nvSpPr>
          <p:cNvPr id="11" name="Text 9"/>
          <p:cNvSpPr/>
          <p:nvPr/>
        </p:nvSpPr>
        <p:spPr>
          <a:xfrm>
            <a:off x="12045910" y="3211830"/>
            <a:ext cx="571377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API Response Time*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047750" y="3867150"/>
            <a:ext cx="16192500" cy="5173980"/>
          </a:xfrm>
          <a:prstGeom prst="roundRect">
            <a:avLst>
              <a:gd name="adj" fmla="val 3314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58182" y="6332220"/>
            <a:ext cx="392880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*Estimated for demonstration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1650" dirty="0"/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3108960" y="4023360"/>
          <a:ext cx="1298448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COMPARISON &amp; DISCUSSION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Compares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720590"/>
            <a:ext cx="16192500" cy="15240"/>
          </a:xfrm>
          <a:prstGeom prst="rect">
            <a:avLst/>
          </a:prstGeom>
          <a:solidFill>
            <a:srgbClr val="10101B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4274820"/>
            <a:ext cx="566728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6015818" y="4274820"/>
            <a:ext cx="404811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TRACKING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9695921" y="4274820"/>
            <a:ext cx="404811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3376023" y="4274820"/>
            <a:ext cx="404811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VERIFICATION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1047750" y="552069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" y="4964430"/>
            <a:ext cx="56672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Sundarban Courier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015818" y="496443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Status-timeline only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695921" y="496443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role dashboard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376023" y="496443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only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47750" y="631317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" y="5756910"/>
            <a:ext cx="56672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Pathao / Steadfast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015818" y="575691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Status-timeline only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695921" y="575691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API only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3376023" y="575691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/ OTP only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047750" y="6320790"/>
            <a:ext cx="16192500" cy="784860"/>
          </a:xfrm>
          <a:prstGeom prst="roundRect">
            <a:avLst>
              <a:gd name="adj" fmla="val 14563"/>
            </a:avLst>
          </a:prstGeom>
          <a:solidFill>
            <a:srgbClr val="F4F5FC"/>
          </a:solidFill>
          <a:ln/>
        </p:spPr>
      </p:sp>
      <p:sp>
        <p:nvSpPr>
          <p:cNvPr id="20" name="Text 18"/>
          <p:cNvSpPr/>
          <p:nvPr/>
        </p:nvSpPr>
        <p:spPr>
          <a:xfrm>
            <a:off x="1238250" y="6549390"/>
            <a:ext cx="54767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SCPMS (Proposed)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6015818" y="654939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map tracking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695921" y="654939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Agent / Customer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3376023" y="6549390"/>
            <a:ext cx="38576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scan-verified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16614934" y="9345930"/>
            <a:ext cx="70151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— CONCLUSION &amp; FUTURE WORK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339340"/>
            <a:ext cx="853916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1047750" y="2842260"/>
            <a:ext cx="76200" cy="428625"/>
          </a:xfrm>
          <a:prstGeom prst="roundRect">
            <a:avLst>
              <a:gd name="adj" fmla="val 50000"/>
            </a:avLst>
          </a:prstGeom>
          <a:solidFill>
            <a:srgbClr val="1200FF"/>
          </a:solidFill>
          <a:ln/>
        </p:spPr>
      </p:sp>
      <p:sp>
        <p:nvSpPr>
          <p:cNvPr id="6" name="Text 4"/>
          <p:cNvSpPr/>
          <p:nvPr/>
        </p:nvSpPr>
        <p:spPr>
          <a:xfrm>
            <a:off x="1276350" y="2842260"/>
            <a:ext cx="478677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Complete, working MERN courier platform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47750" y="3499485"/>
            <a:ext cx="76200" cy="428625"/>
          </a:xfrm>
          <a:prstGeom prst="roundRect">
            <a:avLst>
              <a:gd name="adj" fmla="val 50000"/>
            </a:avLst>
          </a:prstGeom>
          <a:solidFill>
            <a:srgbClr val="1200FF"/>
          </a:solidFill>
          <a:ln/>
        </p:spPr>
      </p:sp>
      <p:sp>
        <p:nvSpPr>
          <p:cNvPr id="8" name="Text 6"/>
          <p:cNvSpPr/>
          <p:nvPr/>
        </p:nvSpPr>
        <p:spPr>
          <a:xfrm>
            <a:off x="1276350" y="3499485"/>
            <a:ext cx="569517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Solves real-time visibility gap directly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047750" y="4156710"/>
            <a:ext cx="76200" cy="428625"/>
          </a:xfrm>
          <a:prstGeom prst="roundRect">
            <a:avLst>
              <a:gd name="adj" fmla="val 50000"/>
            </a:avLst>
          </a:prstGeom>
          <a:solidFill>
            <a:srgbClr val="1200FF"/>
          </a:solidFill>
          <a:ln/>
        </p:spPr>
      </p:sp>
      <p:sp>
        <p:nvSpPr>
          <p:cNvPr id="10" name="Text 8"/>
          <p:cNvSpPr/>
          <p:nvPr/>
        </p:nvSpPr>
        <p:spPr>
          <a:xfrm>
            <a:off x="1276350" y="4156710"/>
            <a:ext cx="414110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tracking + QR + analytics combined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477375" y="2339340"/>
            <a:ext cx="9525" cy="6701790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2" name="Text 10"/>
          <p:cNvSpPr/>
          <p:nvPr/>
        </p:nvSpPr>
        <p:spPr>
          <a:xfrm>
            <a:off x="10151745" y="2339340"/>
            <a:ext cx="77973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151745" y="2842260"/>
            <a:ext cx="76200" cy="428625"/>
          </a:xfrm>
          <a:prstGeom prst="roundRect">
            <a:avLst>
              <a:gd name="adj" fmla="val 50000"/>
            </a:avLst>
          </a:prstGeom>
          <a:solidFill>
            <a:srgbClr val="4A4A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380345" y="2842260"/>
            <a:ext cx="487452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Redis-backed scaling for real-time layer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0151745" y="3499485"/>
            <a:ext cx="76200" cy="428625"/>
          </a:xfrm>
          <a:prstGeom prst="roundRect">
            <a:avLst>
              <a:gd name="adj" fmla="val 50000"/>
            </a:avLst>
          </a:prstGeom>
          <a:solidFill>
            <a:srgbClr val="4A4A5C"/>
          </a:solidFill>
          <a:ln/>
        </p:spPr>
      </p:sp>
      <p:sp>
        <p:nvSpPr>
          <p:cNvPr id="16" name="Text 14"/>
          <p:cNvSpPr/>
          <p:nvPr/>
        </p:nvSpPr>
        <p:spPr>
          <a:xfrm>
            <a:off x="10380345" y="3499485"/>
            <a:ext cx="464742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prediction &amp; traffic-aware routing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151745" y="4156710"/>
            <a:ext cx="76200" cy="428625"/>
          </a:xfrm>
          <a:prstGeom prst="roundRect">
            <a:avLst>
              <a:gd name="adj" fmla="val 50000"/>
            </a:avLst>
          </a:prstGeom>
          <a:solidFill>
            <a:srgbClr val="4A4A5C"/>
          </a:solidFill>
          <a:ln/>
        </p:spPr>
      </p:sp>
      <p:sp>
        <p:nvSpPr>
          <p:cNvPr id="18" name="Text 16"/>
          <p:cNvSpPr/>
          <p:nvPr/>
        </p:nvSpPr>
        <p:spPr>
          <a:xfrm>
            <a:off x="10380345" y="4156710"/>
            <a:ext cx="50495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gateway &amp; mobile agent app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— REFERENCES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4094797"/>
            <a:ext cx="178117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208"/>
              </a:lnSpc>
              <a:buNone/>
            </a:pP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I. Sommerville, "Software Engineering," 10th ed., Pearson, 2015.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1047750" y="4661535"/>
            <a:ext cx="178117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208"/>
              </a:lnSpc>
              <a:buNone/>
            </a:pP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R. Pressman &amp; B. Maxim, "Software Engineering: A Practitioner’s Approach," 9th ed., McGraw-Hill, 2019.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047750" y="5228273"/>
            <a:ext cx="178117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208"/>
              </a:lnSpc>
              <a:buNone/>
            </a:pP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React Documentation, Meta Open Source. [Online]. react.dev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047750" y="5795010"/>
            <a:ext cx="178117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208"/>
              </a:lnSpc>
              <a:buNone/>
            </a:pP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Express.js Documentation, OpenJS Foundation. [Online]. expressjs.com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047750" y="6361748"/>
            <a:ext cx="178117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208"/>
              </a:lnSpc>
              <a:buNone/>
            </a:pP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MongoDB &amp; Mongoose Documentation, MongoDB Inc. [Online]. mongodb.com/docs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047750" y="6928485"/>
            <a:ext cx="178117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208"/>
              </a:lnSpc>
              <a:buNone/>
            </a:pP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Socket.IO Documentation, Socket.IO Contributors. [Online]. socket.io/docs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— ACKNOWLEDGEMENT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Acknowledgement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4566285"/>
            <a:ext cx="13342620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931"/>
              </a:lnSpc>
              <a:buNone/>
            </a:pPr>
            <a:r>
              <a:rPr lang="en-US" sz="300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to [Supervisor Name] for guidance, the Department of CSE, Uttara University, for its support, and family and peers for their encouragement.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097000" y="6477000"/>
            <a:ext cx="5905500" cy="59055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524000" y="-19050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070" y="3394710"/>
            <a:ext cx="1175742" cy="647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14929" y="4480560"/>
            <a:ext cx="4858024" cy="112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0" b="1" kern="0" spc="-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7500" dirty="0"/>
          </a:p>
        </p:txBody>
      </p:sp>
      <p:sp>
        <p:nvSpPr>
          <p:cNvPr id="6" name="Text 3"/>
          <p:cNvSpPr/>
          <p:nvPr/>
        </p:nvSpPr>
        <p:spPr>
          <a:xfrm>
            <a:off x="7041696" y="5760720"/>
            <a:ext cx="420449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85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5744712" y="6751320"/>
            <a:ext cx="679845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[Student Name] · [student.email@uttarauniversity.edu.bd]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1207</Words>
  <Application>Microsoft Office PowerPoint</Application>
  <PresentationFormat>Custom</PresentationFormat>
  <Paragraphs>221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Dr. S M Nazmus Sadat</cp:lastModifiedBy>
  <cp:revision>3</cp:revision>
  <dcterms:created xsi:type="dcterms:W3CDTF">2026-07-14T10:42:10Z</dcterms:created>
  <dcterms:modified xsi:type="dcterms:W3CDTF">2026-07-18T13:35:55Z</dcterms:modified>
</cp:coreProperties>
</file>